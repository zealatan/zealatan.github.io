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Calibri"/>
              </a:rPr>
              <a:t>Checks per Test  (click chart to edit data)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008B8B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008B8B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7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8"/>
            <c:invertIfNegative val="0"/>
            <c:spPr>
              <a:solidFill>
                <a:srgbClr val="E87D1E"/>
              </a:solidFill>
              <a:ln>
                <a:noFill/>
              </a:ln>
            </c:spPr>
          </c:dPt>
          <c:dPt>
            <c:idx val="9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10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11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12"/>
            <c:invertIfNegative val="0"/>
            <c:spPr>
              <a:solidFill>
                <a:srgbClr val="C0392B"/>
              </a:solidFill>
              <a:ln>
                <a:noFill/>
              </a:ln>
            </c:spPr>
          </c:dPt>
          <c:dPt>
            <c:idx val="13"/>
            <c:invertIfNegative val="0"/>
            <c:spPr>
              <a:solidFill>
                <a:srgbClr val="C0392B"/>
              </a:solidFill>
              <a:ln>
                <a:noFill/>
              </a:ln>
            </c:spPr>
          </c:dPt>
          <c:dPt>
            <c:idx val="14"/>
            <c:invertIfNegative val="0"/>
            <c:spPr>
              <a:solidFill>
                <a:srgbClr val="C0392B"/>
              </a:solidFill>
              <a:ln>
                <a:noFill/>
              </a:ln>
            </c:spPr>
          </c:dPt>
          <c:cat>
            <c:strRef>
              <c:f>Sheet1!$A$2:$A$16</c:f>
              <c:strCache>
                <c:ptCount val="15"/>
                <c:pt idx="0">
                  <c:v>T1: Reset defaults</c:v>
                </c:pt>
                <c:pt idx="1">
                  <c:v>T2: Write all-ones</c:v>
                </c:pt>
                <c:pt idx="2">
                  <c:v>T3: Unique values</c:v>
                </c:pt>
                <c:pt idx="3">
                  <c:v>T4: Write all-zeros</c:v>
                </c:pt>
                <c:pt idx="4">
                  <c:v>T5: Partial WSTRB</c:v>
                </c:pt>
                <c:pt idx="5">
                  <c:v>T5b: Byte isolation</c:v>
                </c:pt>
                <c:pt idx="6">
                  <c:v>T6: AW-before-W</c:v>
                </c:pt>
                <c:pt idx="7">
                  <c:v>T7: W-before-AW</c:v>
                </c:pt>
                <c:pt idx="8">
                  <c:v>T8: Invalid addr 0x10</c:v>
                </c:pt>
                <c:pt idx="9">
                  <c:v>T9: Same-cycle AW+W</c:v>
                </c:pt>
                <c:pt idx="10">
                  <c:v>T10: B backpressure</c:v>
                </c:pt>
                <c:pt idx="11">
                  <c:v>T11: R backpressure</c:v>
                </c:pt>
                <c:pt idx="12">
                  <c:v>T12: OOB sweep W_IDLE</c:v>
                </c:pt>
                <c:pt idx="13">
                  <c:v>T13: OOB AW-first</c:v>
                </c:pt>
                <c:pt idx="14">
                  <c:v>T14: OOB W-first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8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10</c:v>
                </c:pt>
                <c:pt idx="5">
                  <c:v>12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4</c:v>
                </c:pt>
                <c:pt idx="10">
                  <c:v>8</c:v>
                </c:pt>
                <c:pt idx="11">
                  <c:v>8</c:v>
                </c:pt>
                <c:pt idx="12">
                  <c:v>15</c:v>
                </c:pt>
                <c:pt idx="13">
                  <c:v>9</c:v>
                </c:pt>
                <c:pt idx="14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100" b="1">
                <a:latin typeface="Calibri"/>
              </a:rPr>
              <a:t>Category Breakdown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008B8B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C0392B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E87D1E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Functional (T1–T4, T6–T7, T9)</c:v>
                </c:pt>
                <c:pt idx="1">
                  <c:v>WSTRB (T5, T5b)</c:v>
                </c:pt>
                <c:pt idx="2">
                  <c:v>SLVERR (T8, T12–T14)</c:v>
                </c:pt>
                <c:pt idx="3">
                  <c:v>Backpressure (T10–T11)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22</c:v>
                </c:pt>
                <c:pt idx="2">
                  <c:v>38</c:v>
                </c:pt>
                <c:pt idx="3">
                  <c:v>16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Calibri"/>
                </a:defRPr>
              </a:pPr>
            </a:p>
          </c:txPr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Calibri"/>
              </a:rPr>
              <a:t>Test Coverage — 30 Checks  (click to edit)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invertIfNegative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1A6E8B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008B8B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E87D1E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T1: Full word
write/readback</c:v>
                </c:pt>
                <c:pt idx="1">
                  <c:v>T2: Multiple
addresses</c:v>
                </c:pt>
                <c:pt idx="2">
                  <c:v>T3: Byte-lane
WSTRB</c:v>
                </c:pt>
                <c:pt idx="3">
                  <c:v>T4: Unwritten
addr = 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12</c:v>
                </c:pt>
                <c:pt idx="2">
                  <c:v>10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88952" cy="73152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AXI4 RTL Verification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8B8B"/>
                </a:solidFill>
                <a:latin typeface="Calibri"/>
              </a:rPr>
              <a:t>AXI-Lite Register File  ·  AXI4 Memory Model  ·  Simple AXI4 Master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9BBCC"/>
                </a:solidFill>
                <a:latin typeface="Calibri"/>
              </a:rPr>
              <a:t>Vivado xsim  ·  SystemVerilog testbenches  ·  Automated CI gate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2286000" cy="1280160"/>
          </a:xfrm>
          <a:prstGeom prst="roundRect">
            <a:avLst/>
          </a:prstGeom>
          <a:solidFill>
            <a:srgbClr val="008B8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307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348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6"/>
                </a:solidFill>
                <a:latin typeface="Calibri"/>
              </a:rPr>
              <a:t>RTL / Model
Components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3657600"/>
            <a:ext cx="2286000" cy="1280160"/>
          </a:xfrm>
          <a:prstGeom prst="roundRect">
            <a:avLst/>
          </a:prstGeom>
          <a:solidFill>
            <a:srgbClr val="27AE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37307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4348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6"/>
                </a:solidFill>
                <a:latin typeface="Calibri"/>
              </a:rPr>
              <a:t>Total Checks
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657600"/>
            <a:ext cx="2286000" cy="1280160"/>
          </a:xfrm>
          <a:prstGeom prst="roundRect">
            <a:avLst/>
          </a:prstGeom>
          <a:solidFill>
            <a:srgbClr val="2C5F8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7307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4348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6"/>
                </a:solidFill>
                <a:latin typeface="Calibri"/>
              </a:rPr>
              <a:t>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3657600"/>
            <a:ext cx="2286000" cy="1280160"/>
          </a:xfrm>
          <a:prstGeom prst="roundRect">
            <a:avLst/>
          </a:prstGeom>
          <a:solidFill>
            <a:srgbClr val="1A6E8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1080" y="37307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44348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6"/>
                </a:solidFill>
                <a:latin typeface="Calibri"/>
              </a:rPr>
              <a:t>CI Gate
Scripts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30936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78899"/>
                </a:solidFill>
                <a:latin typeface="Calibri"/>
              </a:rPr>
              <a:t>Bumhee Lee  ·  2026-05-01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6400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Project Architecture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51560"/>
            <a:ext cx="3566160" cy="502920"/>
          </a:xfrm>
          <a:prstGeom prst="roundRect">
            <a:avLst/>
          </a:prstGeom>
          <a:solidFill>
            <a:srgbClr val="1A2E4A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6984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AXI-Lite Register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3502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CCDD"/>
                </a:solidFill>
                <a:latin typeface="Calibri"/>
              </a:rPr>
              <a:t>rtl/axi_lite_regfile.v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051560"/>
            <a:ext cx="3566160" cy="502920"/>
          </a:xfrm>
          <a:prstGeom prst="roundRect">
            <a:avLst/>
          </a:prstGeom>
          <a:solidFill>
            <a:srgbClr val="1A2E4A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106984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AXI4 Memory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33502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CCDD"/>
                </a:solidFill>
                <a:latin typeface="Calibri"/>
              </a:rPr>
              <a:t>tb/axi_mem_model.sv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051560"/>
            <a:ext cx="3566160" cy="502920"/>
          </a:xfrm>
          <a:prstGeom prst="roundRect">
            <a:avLst/>
          </a:prstGeom>
          <a:solidFill>
            <a:srgbClr val="1A2E4A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06984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Simple AXI4 Master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33502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CCDD"/>
                </a:solidFill>
                <a:latin typeface="Calibri"/>
              </a:rPr>
              <a:t>rtl/simple_axi_master.v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783080"/>
            <a:ext cx="3566160" cy="77724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axi_lite_regfile_tb.sv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133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1783080"/>
            <a:ext cx="3566160" cy="77724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mem_rw_tb.sv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30 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783080"/>
            <a:ext cx="3566160" cy="77724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simple_axi_master_tb.sv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14 checks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017520"/>
            <a:ext cx="3566160" cy="1097280"/>
          </a:xfrm>
          <a:prstGeom prst="roundRect">
            <a:avLst/>
          </a:prstGeom>
          <a:solidFill>
            <a:srgbClr val="2C5F8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4 × 32-bit regs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SLVERR on OOB addr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3-path write FSM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3017520"/>
            <a:ext cx="3566160" cy="1097280"/>
          </a:xfrm>
          <a:prstGeom prst="roundRect">
            <a:avLst/>
          </a:prstGeom>
          <a:solidFill>
            <a:srgbClr val="1A6E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1 KB RAM, Parameterised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Byte-WSTRB support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SLVERR on OOB addr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017520"/>
            <a:ext cx="3566160" cy="1097280"/>
          </a:xfrm>
          <a:prstGeom prst="roundRect">
            <a:avLst/>
          </a:prstGeom>
          <a:solidFill>
            <a:srgbClr val="2C3E50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6-state FSM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Write → Readback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Error flag detection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2560320"/>
            <a:ext cx="0" cy="45720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43600" y="2560320"/>
            <a:ext cx="0" cy="45720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784080" y="2560320"/>
            <a:ext cx="0" cy="45720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744967" y="3566160"/>
            <a:ext cx="256033" cy="0"/>
          </a:xfrm>
          <a:prstGeom prst="line">
            <a:avLst/>
          </a:prstGeom>
          <a:ln w="25400">
            <a:solidFill>
              <a:srgbClr val="008B8B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81544" y="333756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8B8B"/>
                </a:solidFill>
                <a:latin typeface="Calibri"/>
              </a:rPr>
              <a:t>AXI4 bus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4572000"/>
            <a:ext cx="3566160" cy="594360"/>
          </a:xfrm>
          <a:prstGeom prst="roundRect">
            <a:avLst/>
          </a:prstGeom>
          <a:solidFill>
            <a:srgbClr val="1A2E4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run_axi_regfile_sim.sh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4572000"/>
            <a:ext cx="3566160" cy="594360"/>
          </a:xfrm>
          <a:prstGeom prst="roundRect">
            <a:avLst/>
          </a:prstGeom>
          <a:solidFill>
            <a:srgbClr val="1A2E4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run_mem_rw_sim.sh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4572000"/>
            <a:ext cx="3566160" cy="594360"/>
          </a:xfrm>
          <a:prstGeom prst="roundRect">
            <a:avLst/>
          </a:prstGeom>
          <a:solidFill>
            <a:srgbClr val="1A2E4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run_simple_axi_master_sim.sh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103120" y="4114800"/>
            <a:ext cx="0" cy="457200"/>
          </a:xfrm>
          <a:prstGeom prst="line">
            <a:avLst/>
          </a:prstGeom>
          <a:ln w="15240">
            <a:solidFill>
              <a:srgbClr val="CCCCCC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43600" y="4114800"/>
            <a:ext cx="0" cy="457200"/>
          </a:xfrm>
          <a:prstGeom prst="line">
            <a:avLst/>
          </a:prstGeom>
          <a:ln w="15240">
            <a:solidFill>
              <a:srgbClr val="CCCCCC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784080" y="4114800"/>
            <a:ext cx="0" cy="457200"/>
          </a:xfrm>
          <a:prstGeom prst="line">
            <a:avLst/>
          </a:prstGeom>
          <a:ln w="15240">
            <a:solidFill>
              <a:srgbClr val="CCCCCC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20040" y="5349240"/>
            <a:ext cx="11548872" cy="548640"/>
          </a:xfrm>
          <a:prstGeom prst="round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42239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D1E"/>
                </a:solidFill>
                <a:latin typeface="Calibri"/>
              </a:rPr>
              <a:t>CI gate:  grep -qE '\[FAIL\]|FATAL' &lt;log&gt;  →  exit 1 on any failure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6400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AXI-Lite Register File  (rtl/axi_lite_regfile.v)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51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4A"/>
                </a:solidFill>
                <a:latin typeface="Calibri"/>
              </a:rPr>
              <a:t>Block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63040"/>
            <a:ext cx="1828800" cy="68580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AW channel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awaddr / awvalid / awready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31720"/>
            <a:ext cx="1828800" cy="68580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W channel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wdata / wstrb / wvalid / wready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200400"/>
            <a:ext cx="1828800" cy="685800"/>
          </a:xfrm>
          <a:prstGeom prst="roundRect">
            <a:avLst/>
          </a:prstGeom>
          <a:solidFill>
            <a:srgbClr val="1A6E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B channel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bresp / bvalid / bready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069080"/>
            <a:ext cx="1828800" cy="68580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AR channel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araddr / arvalid / arready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937760"/>
            <a:ext cx="1828800" cy="685800"/>
          </a:xfrm>
          <a:prstGeom prst="roundRect">
            <a:avLst/>
          </a:prstGeom>
          <a:solidFill>
            <a:srgbClr val="1A6E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R channel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rdata / rresp / rvalid / rready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2194560"/>
            <a:ext cx="1463040" cy="2011680"/>
          </a:xfrm>
          <a:prstGeom prst="roundRect">
            <a:avLst/>
          </a:prstGeom>
          <a:solidFill>
            <a:srgbClr val="1A2E4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axi_lite
_regfile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regs[0..3]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32-bit ×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1463040"/>
            <a:ext cx="1188720" cy="685800"/>
          </a:xfrm>
          <a:prstGeom prst="roundRect">
            <a:avLst/>
          </a:prstGeom>
          <a:solidFill>
            <a:srgbClr val="2C5F8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reg[0]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0x00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2331720"/>
            <a:ext cx="1188720" cy="685800"/>
          </a:xfrm>
          <a:prstGeom prst="roundRect">
            <a:avLst/>
          </a:prstGeom>
          <a:solidFill>
            <a:srgbClr val="2C5F8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reg[1]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0x04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3200400"/>
            <a:ext cx="1188720" cy="685800"/>
          </a:xfrm>
          <a:prstGeom prst="roundRect">
            <a:avLst/>
          </a:prstGeom>
          <a:solidFill>
            <a:srgbClr val="2C5F8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reg[2]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0x08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4069079"/>
            <a:ext cx="1188720" cy="685800"/>
          </a:xfrm>
          <a:prstGeom prst="roundRect">
            <a:avLst/>
          </a:prstGeom>
          <a:solidFill>
            <a:srgbClr val="2C5F8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reg[3]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0x0C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03120" y="180594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103120" y="267462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103120" y="3200400"/>
            <a:ext cx="228600" cy="0"/>
          </a:xfrm>
          <a:prstGeom prst="line">
            <a:avLst/>
          </a:prstGeom>
          <a:ln w="19050">
            <a:solidFill>
              <a:srgbClr val="008B8B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103120" y="441198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103120" y="528066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103120" y="4572000"/>
            <a:ext cx="228600" cy="0"/>
          </a:xfrm>
          <a:prstGeom prst="line">
            <a:avLst/>
          </a:prstGeom>
          <a:ln w="19050">
            <a:solidFill>
              <a:srgbClr val="008B8B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94760" y="180594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94760" y="267462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94760" y="354330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94760" y="4411979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74320" y="5669280"/>
            <a:ext cx="50292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573328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addr[31:4] ≠ 0  →  SLVERR, register unchanged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10515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4A"/>
                </a:solidFill>
                <a:latin typeface="Calibri"/>
              </a:rPr>
              <a:t>Write FSM  (4 states)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1920240"/>
            <a:ext cx="1828800" cy="868680"/>
          </a:xfrm>
          <a:prstGeom prst="roundRect">
            <a:avLst/>
          </a:prstGeom>
          <a:solidFill>
            <a:srgbClr val="2C3E50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W_IDLE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ready for
new txn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1920240"/>
            <a:ext cx="1828800" cy="868680"/>
          </a:xfrm>
          <a:prstGeom prst="roundRect">
            <a:avLst/>
          </a:prstGeom>
          <a:solidFill>
            <a:srgbClr val="2C5F8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W_WAIT_W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have AW,
wait 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3840480"/>
            <a:ext cx="1828800" cy="868680"/>
          </a:xfrm>
          <a:prstGeom prst="roundRect">
            <a:avLst/>
          </a:prstGeom>
          <a:solidFill>
            <a:srgbClr val="2C5F8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W_WAIT_A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have W,
wait AW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0" y="3840480"/>
            <a:ext cx="1828800" cy="86868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W_BRESP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FFFFFF"/>
                </a:solidFill>
                <a:latin typeface="Calibri"/>
              </a:rPr>
              <a:t>sending
response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63840" y="2354580"/>
            <a:ext cx="82296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726679" y="20071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  <a:latin typeface="Calibri"/>
              </a:rPr>
              <a:t>awvalid only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49440" y="2788920"/>
            <a:ext cx="0" cy="105156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800600" y="32232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  <a:latin typeface="Calibri"/>
              </a:rPr>
              <a:t>wvalid only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601200" y="2788920"/>
            <a:ext cx="0" cy="105156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710928" y="31775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  <a:latin typeface="Calibri"/>
              </a:rPr>
              <a:t>wvalid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863840" y="4274820"/>
            <a:ext cx="82296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726679" y="39273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  <a:latin typeface="Calibri"/>
              </a:rPr>
              <a:t>awvalid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63840" y="2788920"/>
            <a:ext cx="822960" cy="1051560"/>
          </a:xfrm>
          <a:prstGeom prst="line">
            <a:avLst/>
          </a:prstGeom>
          <a:ln w="22860">
            <a:solidFill>
              <a:srgbClr val="27AE6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092440" y="29946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Calibri"/>
              </a:rPr>
              <a:t>both valid</a:t>
            </a:r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6949440" y="2788920"/>
            <a:ext cx="2651760" cy="1051560"/>
          </a:xfrm>
          <a:prstGeom prst="line">
            <a:avLst/>
          </a:prstGeom>
          <a:ln w="15240">
            <a:solidFill>
              <a:srgbClr val="CCCCCC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869680" y="34061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  <a:latin typeface="Calibri"/>
              </a:rPr>
              <a:t>bready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846320"/>
            <a:ext cx="5788152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2E4A"/>
                </a:solidFill>
                <a:latin typeface="Calibri"/>
              </a:rPr>
              <a:t>AXI Write Handshake  (W_IDLE path, awvalid &amp; wvalid simultaneous)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5056632"/>
            <a:ext cx="5788152" cy="1024128"/>
          </a:xfrm>
          <a:prstGeom prst="rect">
            <a:avLst/>
          </a:prstGeom>
          <a:solidFill>
            <a:srgbClr val="0D1B2A"/>
          </a:solidFill>
          <a:ln w="9525">
            <a:solidFill>
              <a:srgbClr val="22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5056632"/>
            <a:ext cx="822960" cy="1024128"/>
          </a:xfrm>
          <a:prstGeom prst="rect">
            <a:avLst/>
          </a:prstGeom>
          <a:solidFill>
            <a:srgbClr val="0A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66560" y="5056632"/>
            <a:ext cx="827531" cy="1024128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60" y="5074920"/>
            <a:ext cx="827531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4848" y="5212080"/>
            <a:ext cx="790955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·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594092" y="5056632"/>
            <a:ext cx="827531" cy="102412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94092" y="5074920"/>
            <a:ext cx="827531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12379" y="5212080"/>
            <a:ext cx="790955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W_IDLE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21624" y="5056632"/>
            <a:ext cx="827531" cy="1024128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21624" y="5074920"/>
            <a:ext cx="827531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9912" y="5212080"/>
            <a:ext cx="790955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W_BRESP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49156" y="5056632"/>
            <a:ext cx="827531" cy="102412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49156" y="5074920"/>
            <a:ext cx="827531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67444" y="5212080"/>
            <a:ext cx="790955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W_IDLE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76688" y="5056632"/>
            <a:ext cx="827531" cy="1024128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76688" y="5074920"/>
            <a:ext cx="827531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94976" y="5212080"/>
            <a:ext cx="790955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·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904220" y="5056632"/>
            <a:ext cx="827531" cy="102412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904220" y="5074920"/>
            <a:ext cx="827531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22508" y="5212080"/>
            <a:ext cx="790955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0176" y="5074920"/>
            <a:ext cx="749808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7799BB"/>
                </a:solidFill>
                <a:latin typeface="Calibri"/>
              </a:rPr>
              <a:t>cyc 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0176" y="5212080"/>
            <a:ext cx="74980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 i="1">
                <a:solidFill>
                  <a:srgbClr val="E87D1E"/>
                </a:solidFill>
                <a:latin typeface="Calibri"/>
              </a:rPr>
              <a:t>state: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43600" y="5330952"/>
            <a:ext cx="5788152" cy="914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590434" y="5056632"/>
            <a:ext cx="7315" cy="1024128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417966" y="5056632"/>
            <a:ext cx="7315" cy="1024128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245498" y="5056632"/>
            <a:ext cx="7315" cy="1024128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73030" y="5056632"/>
            <a:ext cx="7315" cy="1024128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900562" y="5056632"/>
            <a:ext cx="7315" cy="1024128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43600" y="5330952"/>
            <a:ext cx="578815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80176" y="5348947"/>
            <a:ext cx="731520" cy="113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26" b="1" i="0">
                <a:solidFill>
                  <a:srgbClr val="008B8B"/>
                </a:solidFill>
                <a:latin typeface="Calibri"/>
              </a:rPr>
              <a:t>awvalid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80276" y="5450921"/>
            <a:ext cx="800099" cy="182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607808" y="5342948"/>
            <a:ext cx="800099" cy="9297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584948" y="5342948"/>
            <a:ext cx="18288" cy="1262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435340" y="5450921"/>
            <a:ext cx="800099" cy="182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412480" y="5342948"/>
            <a:ext cx="18288" cy="1262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62872" y="5450921"/>
            <a:ext cx="800099" cy="182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90404" y="5450921"/>
            <a:ext cx="800099" cy="182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917936" y="5450921"/>
            <a:ext cx="800099" cy="182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943600" y="5480913"/>
            <a:ext cx="578815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80176" y="5498908"/>
            <a:ext cx="731520" cy="113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26" b="1" i="0">
                <a:solidFill>
                  <a:srgbClr val="27AE60"/>
                </a:solidFill>
                <a:latin typeface="Calibri"/>
              </a:rPr>
              <a:t>awready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80276" y="5492910"/>
            <a:ext cx="800099" cy="929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07808" y="5492910"/>
            <a:ext cx="800099" cy="929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435340" y="5600882"/>
            <a:ext cx="800099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0" y="5492910"/>
            <a:ext cx="18288" cy="1262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262872" y="5492910"/>
            <a:ext cx="800099" cy="929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240012" y="5492910"/>
            <a:ext cx="18288" cy="1262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090404" y="5492910"/>
            <a:ext cx="800099" cy="929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917936" y="5492910"/>
            <a:ext cx="800099" cy="929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43600" y="5630875"/>
            <a:ext cx="578815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80176" y="5648870"/>
            <a:ext cx="731520" cy="113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26" b="1" i="0">
                <a:solidFill>
                  <a:srgbClr val="2C5F8A"/>
                </a:solidFill>
                <a:latin typeface="Calibri"/>
              </a:rPr>
              <a:t>wvalid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80276" y="5750844"/>
            <a:ext cx="800099" cy="1828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607808" y="5642872"/>
            <a:ext cx="800099" cy="929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584948" y="5642872"/>
            <a:ext cx="18288" cy="12626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35340" y="5750844"/>
            <a:ext cx="800099" cy="1828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0" y="5642872"/>
            <a:ext cx="18288" cy="12626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62872" y="5750844"/>
            <a:ext cx="800099" cy="1828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90404" y="5750844"/>
            <a:ext cx="800099" cy="1828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917936" y="5750844"/>
            <a:ext cx="800099" cy="1828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943600" y="5780836"/>
            <a:ext cx="578815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80176" y="5798832"/>
            <a:ext cx="731520" cy="113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26" b="1" i="0">
                <a:solidFill>
                  <a:srgbClr val="1A6E8B"/>
                </a:solidFill>
                <a:latin typeface="Calibri"/>
              </a:rPr>
              <a:t>bvalid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780276" y="5900806"/>
            <a:ext cx="800099" cy="18288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607808" y="5900806"/>
            <a:ext cx="800099" cy="18288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435340" y="5792833"/>
            <a:ext cx="800099" cy="92976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412480" y="5792833"/>
            <a:ext cx="18288" cy="126260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262872" y="5900806"/>
            <a:ext cx="800099" cy="18288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240012" y="5792833"/>
            <a:ext cx="18288" cy="126260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090404" y="5900806"/>
            <a:ext cx="800099" cy="18288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917936" y="5900806"/>
            <a:ext cx="800099" cy="18288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943600" y="5930798"/>
            <a:ext cx="578815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980176" y="5948793"/>
            <a:ext cx="731520" cy="113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26" b="1" i="0">
                <a:solidFill>
                  <a:srgbClr val="E87D1E"/>
                </a:solidFill>
                <a:latin typeface="Calibri"/>
              </a:rPr>
              <a:t>bready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780276" y="6050767"/>
            <a:ext cx="800099" cy="1828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607808" y="6050767"/>
            <a:ext cx="800099" cy="1828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435340" y="5942795"/>
            <a:ext cx="800099" cy="92976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412480" y="5942795"/>
            <a:ext cx="18288" cy="12626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9262872" y="6050767"/>
            <a:ext cx="800099" cy="1828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240012" y="5942795"/>
            <a:ext cx="18288" cy="12626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090404" y="6050767"/>
            <a:ext cx="800099" cy="1828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917936" y="6050767"/>
            <a:ext cx="800099" cy="1828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4320" y="6236208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  <a:latin typeface="Calibri"/>
              </a:rPr>
              <a:t>133 / 133 checks PASSED  ·  Byte-WSTRB  ·  3 write paths  ·  SLVERR for addr[31:4]≠0  ·  Sim time 3720 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6400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AXI-Lite Register File — Verification Coverage (133 Checks)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051560"/>
          <a:ext cx="6217920" cy="5577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675120" y="1051560"/>
          <a:ext cx="521208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675120" y="5879592"/>
            <a:ext cx="228600" cy="2286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586130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  <a:latin typeface="Calibri"/>
              </a:rPr>
              <a:t>Functional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6108192"/>
            <a:ext cx="228600" cy="2286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608990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  <a:latin typeface="Calibri"/>
              </a:rPr>
              <a:t>WSTRB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6336792"/>
            <a:ext cx="228600" cy="2286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631850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  <a:latin typeface="Calibri"/>
              </a:rPr>
              <a:t>SLVERR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6565392"/>
            <a:ext cx="228600" cy="228600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654710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  <a:latin typeface="Calibri"/>
              </a:rPr>
              <a:t>Backpressure tests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6400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AXI4 Memory Model  (tb/axi_mem_model.sv)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4A"/>
                </a:solidFill>
                <a:latin typeface="Calibri"/>
              </a:rPr>
              <a:t>Block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08760"/>
            <a:ext cx="2286000" cy="59436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AW  awaddr / awvalid / awready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286000"/>
            <a:ext cx="2286000" cy="59436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W   wdata / wstrb / wlast / wvalid / wready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977639"/>
            <a:ext cx="2286000" cy="594360"/>
          </a:xfrm>
          <a:prstGeom prst="roundRect">
            <a:avLst/>
          </a:prstGeom>
          <a:solidFill>
            <a:srgbClr val="1A6E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AR  araddr / arvalid / arready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063240"/>
            <a:ext cx="2286000" cy="59436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B   bresp / bvalid / bready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754880"/>
            <a:ext cx="2286000" cy="594360"/>
          </a:xfrm>
          <a:prstGeom prst="roundRect">
            <a:avLst/>
          </a:prstGeom>
          <a:solidFill>
            <a:srgbClr val="1A6E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R   rdata / rresp / rlast / rvalid / rready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508760"/>
            <a:ext cx="1280160" cy="1371600"/>
          </a:xfrm>
          <a:prstGeom prst="roundRect">
            <a:avLst/>
          </a:prstGeom>
          <a:solidFill>
            <a:srgbClr val="1A2E4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Write FSM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4 states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W_IDLE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W_WAIT_W/A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W_BRESP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3200400"/>
            <a:ext cx="1280160" cy="1371600"/>
          </a:xfrm>
          <a:prstGeom prst="roundRect">
            <a:avLst/>
          </a:prstGeom>
          <a:solidFill>
            <a:srgbClr val="1A2E4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Read FSM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2 states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R_IDLE</a:t>
            </a:r>
          </a:p>
          <a:p>
            <a:pPr algn="ctr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Calibri"/>
              </a:rPr>
              <a:t>R_RVALID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508760"/>
            <a:ext cx="1463040" cy="3063240"/>
          </a:xfrm>
          <a:prstGeom prst="roundRect">
            <a:avLst/>
          </a:prstGeom>
          <a:solidFill>
            <a:srgbClr val="2C5F8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mem[ ]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1024 × 32-bit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(4 KB)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init 0x0</a:t>
            </a:r>
          </a:p>
          <a:p>
            <a:pPr algn="ctr">
              <a:spcBef>
                <a:spcPts val="100"/>
              </a:spcBef>
            </a:pPr>
            <a:r>
              <a:rPr sz="900" b="0">
                <a:solidFill>
                  <a:srgbClr val="FFFFFF"/>
                </a:solidFill>
                <a:latin typeface="Calibri"/>
              </a:rPr>
              <a:t>at sim start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0320" y="180594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60320" y="258318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560320" y="2743200"/>
            <a:ext cx="228600" cy="0"/>
          </a:xfrm>
          <a:prstGeom prst="line">
            <a:avLst/>
          </a:prstGeom>
          <a:ln w="19050">
            <a:solidFill>
              <a:srgbClr val="008B8B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60320" y="4274820"/>
            <a:ext cx="22860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560320" y="5052060"/>
            <a:ext cx="228600" cy="0"/>
          </a:xfrm>
          <a:prstGeom prst="line">
            <a:avLst/>
          </a:prstGeom>
          <a:ln w="19050">
            <a:solidFill>
              <a:srgbClr val="008B8B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69080" y="2194560"/>
            <a:ext cx="182880" cy="0"/>
          </a:xfrm>
          <a:prstGeom prst="line">
            <a:avLst/>
          </a:prstGeom>
          <a:ln w="1905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069080" y="3931920"/>
            <a:ext cx="182880" cy="0"/>
          </a:xfrm>
          <a:prstGeom prst="line">
            <a:avLst/>
          </a:prstGeom>
          <a:ln w="19050">
            <a:solidFill>
              <a:srgbClr val="1A6E8B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74320" y="5669280"/>
            <a:ext cx="5486400" cy="502920"/>
          </a:xfrm>
          <a:prstGeom prst="round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73328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8B8B"/>
                </a:solidFill>
                <a:latin typeface="Calibri"/>
              </a:rPr>
              <a:t>Parameters:  MEM_DEPTH (words, default 1024)  ·  MEM_BASE (default 0x0)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035040" y="1051560"/>
          <a:ext cx="58521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28192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  <a:latin typeface="Calibri"/>
              </a:rPr>
              <a:t>30 / 30 checks PASSED  ·  SLVERR for OOB addresses  ·  Simulation time 690 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6400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Simple AXI4 Master — 6-State FSM  (rtl/simple_axi_master.v)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1645920" cy="822960"/>
          </a:xfrm>
          <a:prstGeom prst="roundRect">
            <a:avLst/>
          </a:prstGeom>
          <a:solidFill>
            <a:srgbClr val="2C3E50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IDLE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wait start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latch addr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371600"/>
            <a:ext cx="1645920" cy="822960"/>
          </a:xfrm>
          <a:prstGeom prst="roundRect">
            <a:avLst/>
          </a:prstGeom>
          <a:solidFill>
            <a:srgbClr val="1A2E4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WR_ADDR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awvalid=1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wvalid=1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1645920" cy="822960"/>
          </a:xfrm>
          <a:prstGeom prst="roundRect">
            <a:avLst/>
          </a:prstGeom>
          <a:solidFill>
            <a:srgbClr val="2C5F8A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WR_RESP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bready=1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wait bvalid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3200400"/>
            <a:ext cx="1645920" cy="822960"/>
          </a:xfrm>
          <a:prstGeom prst="roundRect">
            <a:avLst/>
          </a:prstGeom>
          <a:solidFill>
            <a:srgbClr val="1A6E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RD_ADDR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arvalid=1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wait arready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200400"/>
            <a:ext cx="1645920" cy="822960"/>
          </a:xfrm>
          <a:prstGeom prst="roundRect">
            <a:avLst/>
          </a:prstGeom>
          <a:solidFill>
            <a:srgbClr val="008B8B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RD_DATA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rready=1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wait rvalid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200400"/>
            <a:ext cx="1645920" cy="822960"/>
          </a:xfrm>
          <a:prstGeom prst="roundRect">
            <a:avLst/>
          </a:prstGeom>
          <a:solidFill>
            <a:srgbClr val="27AE60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 lIns="54864" rIns="54864" tIns="27432" bIns="27432"/>
          <a:lstStyle/>
          <a:p>
            <a:pPr algn="ctr">
              <a:spcBef>
                <a:spcPts val="1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DONE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done=1 (1 cyc)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Calibri"/>
              </a:rPr>
              <a:t>assert error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21408" y="1783080"/>
            <a:ext cx="54864" cy="0"/>
          </a:xfrm>
          <a:prstGeom prst="line">
            <a:avLst/>
          </a:prstGeom>
          <a:ln w="2540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847088" y="13990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  <a:latin typeface="Calibri"/>
              </a:rPr>
              <a:t>start=1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41648" y="1783080"/>
            <a:ext cx="54863" cy="0"/>
          </a:xfrm>
          <a:prstGeom prst="line">
            <a:avLst/>
          </a:prstGeom>
          <a:ln w="2540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67328" y="134416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444444"/>
                </a:solidFill>
                <a:latin typeface="Calibri"/>
              </a:rPr>
              <a:t>awready
&amp;&amp;wready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0" y="2304288"/>
            <a:ext cx="0" cy="786384"/>
          </a:xfrm>
          <a:prstGeom prst="line">
            <a:avLst/>
          </a:prstGeom>
          <a:ln w="2540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38928" y="2606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  <a:latin typeface="Calibri"/>
              </a:rPr>
              <a:t>bvalid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041648" y="3611880"/>
            <a:ext cx="54863" cy="0"/>
          </a:xfrm>
          <a:prstGeom prst="line">
            <a:avLst/>
          </a:prstGeom>
          <a:ln w="2540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767328" y="39044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  <a:latin typeface="Calibri"/>
              </a:rPr>
              <a:t>arready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121408" y="3611880"/>
            <a:ext cx="54864" cy="0"/>
          </a:xfrm>
          <a:prstGeom prst="line">
            <a:avLst/>
          </a:prstGeom>
          <a:ln w="25400">
            <a:solidFill>
              <a:srgbClr val="E87D1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47088" y="39044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  <a:latin typeface="Calibri"/>
              </a:rPr>
              <a:t>rvalid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88720" y="2304288"/>
            <a:ext cx="0" cy="786384"/>
          </a:xfrm>
          <a:prstGeom prst="line">
            <a:avLst/>
          </a:prstGeom>
          <a:ln w="25400">
            <a:solidFill>
              <a:srgbClr val="27AE6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-1051560" y="2514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27AE60"/>
                </a:solidFill>
                <a:latin typeface="Calibri"/>
              </a:rPr>
              <a:t>unconditional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572000"/>
            <a:ext cx="5943600" cy="685800"/>
          </a:xfrm>
          <a:prstGeom prst="round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6634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error  =  write_err (bresp≠OKAY)   |   read_err (rresp≠OKAY)   |   data_err (rdata≠write_data)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0515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4A"/>
                </a:solidFill>
                <a:latin typeface="Calibri"/>
              </a:rPr>
              <a:t>AXI Output Signals by State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217920" y="1417320"/>
          <a:ext cx="566928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</a:tblGrid>
              <a:tr h="47679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Driven Signals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47679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IDLE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all valids = 0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</a:tr>
              <a:tr h="47679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WR_ADDR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awvalid=1, wvalid=1, awaddr=addr_lat,
wdata=wdata_lat, wstrb=0xF, wlast=1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WR_RESP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bready = 1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</a:tr>
              <a:tr h="47679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RD_ADDR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arvalid = 1,  araddr = addr_lat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RD_DATA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rready = 1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</a:tr>
              <a:tr h="476796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done_r=1,  error_r = combined flags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4892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  <a:latin typeface="Calibri"/>
              </a:rPr>
              <a:t>All outputs are combinatorial from FSM state  ·  Data latches: addr_lat, wdata_lat, rdata_lat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23620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  <a:latin typeface="Calibri"/>
              </a:rPr>
              <a:t>14 / 14 checks PASSED  ·  done pulses 1 cycle  ·  Simulation time 445 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6400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Simple AXI4 Master — AXI Handshake Waveform &amp; Test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51560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4A"/>
                </a:solidFill>
                <a:latin typeface="Calibri"/>
              </a:rPr>
              <a:t>Single Write→Read Transaction  (FSM state shown in orange  ·  back-to-back handshakes, 6 active cycles)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11640312" cy="3547872"/>
          </a:xfrm>
          <a:prstGeom prst="rect">
            <a:avLst/>
          </a:prstGeom>
          <a:solidFill>
            <a:srgbClr val="0D1B2A"/>
          </a:solidFill>
          <a:ln w="9525">
            <a:solidFill>
              <a:srgbClr val="22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98448"/>
            <a:ext cx="1005840" cy="3547872"/>
          </a:xfrm>
          <a:prstGeom prst="rect">
            <a:avLst/>
          </a:prstGeom>
          <a:solidFill>
            <a:srgbClr val="0A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1298448"/>
            <a:ext cx="1063447" cy="3547872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43607" y="1298448"/>
            <a:ext cx="1063447" cy="35478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43607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1895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WR_ADDR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7054" y="1298448"/>
            <a:ext cx="1063447" cy="3547872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7054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5342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WR_RESP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0501" y="1298448"/>
            <a:ext cx="1063447" cy="35478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0501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8789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RD_ADDR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33948" y="1298448"/>
            <a:ext cx="1063447" cy="3547872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3948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2236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RD_DATA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7396" y="1298448"/>
            <a:ext cx="1063447" cy="35478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97396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5684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DONE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0843" y="1298448"/>
            <a:ext cx="1063447" cy="3547872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0843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9131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IDLE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24290" y="1298448"/>
            <a:ext cx="1063447" cy="35478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4290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42578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87737" y="1298448"/>
            <a:ext cx="1063447" cy="3547872"/>
          </a:xfrm>
          <a:prstGeom prst="rect">
            <a:avLst/>
          </a:prstGeom>
          <a:solidFill>
            <a:srgbClr val="1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7737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6025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51184" y="1298448"/>
            <a:ext cx="1063447" cy="35478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51184" y="1316736"/>
            <a:ext cx="106344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7799BB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9472" y="1453895"/>
            <a:ext cx="102687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E87D1E"/>
                </a:solidFill>
                <a:latin typeface="Calibr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" y="1316736"/>
            <a:ext cx="932688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7799BB"/>
                </a:solidFill>
                <a:latin typeface="Calibri"/>
              </a:rPr>
              <a:t>cyc 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" y="1453895"/>
            <a:ext cx="93268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 i="1">
                <a:solidFill>
                  <a:srgbClr val="E87D1E"/>
                </a:solidFill>
                <a:latin typeface="Calibri"/>
              </a:rPr>
              <a:t>state: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1572768"/>
            <a:ext cx="11640312" cy="914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39949" y="1298448"/>
            <a:ext cx="7315" cy="3547872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03396" y="1298448"/>
            <a:ext cx="7315" cy="3547872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66844" y="1298448"/>
            <a:ext cx="7315" cy="3547872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30291" y="1298448"/>
            <a:ext cx="7315" cy="3547872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93738" y="1298448"/>
            <a:ext cx="7315" cy="3547872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7185" y="1298448"/>
            <a:ext cx="7315" cy="3547872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20632" y="1298448"/>
            <a:ext cx="7315" cy="3547872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784080" y="1298448"/>
            <a:ext cx="7315" cy="3547872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47527" y="1298448"/>
            <a:ext cx="7315" cy="3547872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1572768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1605503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E87D1E"/>
                </a:solidFill>
                <a:latin typeface="Calibri"/>
              </a:rPr>
              <a:t>start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93876" y="179100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357323" y="1594591"/>
            <a:ext cx="1036015" cy="16913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463" y="1594591"/>
            <a:ext cx="18288" cy="218236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20770" y="179100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97910" y="1594591"/>
            <a:ext cx="18288" cy="218236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84217" y="179100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547664" y="179100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11112" y="179100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74559" y="179100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738006" y="179100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01453" y="179100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64900" y="179100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1845564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1878299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008B8B"/>
                </a:solidFill>
                <a:latin typeface="Calibri"/>
              </a:rPr>
              <a:t>awvalid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93876" y="2063800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357323" y="1867387"/>
            <a:ext cx="1036015" cy="16913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334463" y="1867387"/>
            <a:ext cx="18288" cy="21823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420770" y="2063800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397910" y="1867387"/>
            <a:ext cx="18288" cy="21823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84217" y="2063800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547664" y="2063800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11112" y="2063800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674559" y="2063800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738006" y="2063800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801453" y="2063800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864900" y="2063800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74320" y="2118360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" y="2151095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27AE60"/>
                </a:solidFill>
                <a:latin typeface="Calibri"/>
              </a:rPr>
              <a:t>awready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293876" y="2140183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357323" y="2140183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420770" y="2336596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397910" y="2140183"/>
            <a:ext cx="18288" cy="21823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484217" y="2140183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61357" y="2140183"/>
            <a:ext cx="18288" cy="21823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547664" y="2140183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611112" y="2140183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674559" y="2140183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738006" y="2140183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801453" y="2140183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864900" y="2140183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2391156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10896" y="2423891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2C5F8A"/>
                </a:solidFill>
                <a:latin typeface="Calibri"/>
              </a:rPr>
              <a:t>wvalid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293876" y="2609392"/>
            <a:ext cx="1036015" cy="2182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357323" y="2412979"/>
            <a:ext cx="1036015" cy="16913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334463" y="2412979"/>
            <a:ext cx="18288" cy="21823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420770" y="2609392"/>
            <a:ext cx="1036015" cy="2182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397910" y="2412979"/>
            <a:ext cx="18288" cy="21823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484217" y="2609392"/>
            <a:ext cx="1036015" cy="2182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547664" y="2609392"/>
            <a:ext cx="1036015" cy="2182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611112" y="2609392"/>
            <a:ext cx="1036015" cy="2182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674559" y="2609392"/>
            <a:ext cx="1036015" cy="2182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38006" y="2609392"/>
            <a:ext cx="1036015" cy="2182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01453" y="2609392"/>
            <a:ext cx="1036015" cy="2182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864900" y="2609392"/>
            <a:ext cx="1036015" cy="21823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74320" y="2663952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10896" y="2696687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27AE60"/>
                </a:solidFill>
                <a:latin typeface="Calibri"/>
              </a:rPr>
              <a:t>wready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293876" y="2685775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357323" y="2685775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420770" y="2882188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397910" y="2685775"/>
            <a:ext cx="18288" cy="21823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484217" y="2685775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461357" y="2685775"/>
            <a:ext cx="18288" cy="21823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547664" y="2685775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611112" y="2685775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674559" y="2685775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738006" y="2685775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801453" y="2685775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864900" y="2685775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74320" y="2936748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10896" y="2969483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1A6E8B"/>
                </a:solidFill>
                <a:latin typeface="Calibri"/>
              </a:rPr>
              <a:t>bvalid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293876" y="3154984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357323" y="3154984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420770" y="2958571"/>
            <a:ext cx="1036015" cy="16913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397910" y="2958571"/>
            <a:ext cx="18288" cy="218236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484217" y="3154984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461357" y="2958571"/>
            <a:ext cx="18288" cy="218236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547664" y="3154984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611112" y="3154984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674559" y="3154984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738006" y="3154984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801453" y="3154984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864900" y="3154984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4320" y="3209544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10896" y="3242279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E87D1E"/>
                </a:solidFill>
                <a:latin typeface="Calibri"/>
              </a:rPr>
              <a:t>bready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293876" y="3427780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357323" y="3427780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420770" y="3231367"/>
            <a:ext cx="1036015" cy="16913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397910" y="3231367"/>
            <a:ext cx="18288" cy="218236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484217" y="3427780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461357" y="3231367"/>
            <a:ext cx="18288" cy="218236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547664" y="3427780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611112" y="3427780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674559" y="3427780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738006" y="3427780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801453" y="3427780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0864900" y="3427780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74320" y="3482340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10896" y="3515075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008B8B"/>
                </a:solidFill>
                <a:latin typeface="Calibri"/>
              </a:rPr>
              <a:t>arvalid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293876" y="3700576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357323" y="3700576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420770" y="3700576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484217" y="3504163"/>
            <a:ext cx="1036015" cy="16913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461357" y="3504163"/>
            <a:ext cx="18288" cy="21823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547664" y="3700576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524804" y="3504163"/>
            <a:ext cx="18288" cy="21823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611112" y="3700576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674559" y="3700576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738006" y="3700576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9801453" y="3700576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0864900" y="3700576"/>
            <a:ext cx="1036015" cy="21823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74320" y="3755136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10896" y="3787871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27AE60"/>
                </a:solidFill>
                <a:latin typeface="Calibri"/>
              </a:rPr>
              <a:t>arready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1293876" y="3776959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357323" y="3776959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420770" y="3776959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484217" y="3776959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547664" y="3973372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524804" y="3776959"/>
            <a:ext cx="18288" cy="21823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611112" y="3776959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588252" y="3776959"/>
            <a:ext cx="18288" cy="21823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674559" y="3776959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8738006" y="3776959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801453" y="3776959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864900" y="3776959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74320" y="4027932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310896" y="4060667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1A6E8B"/>
                </a:solidFill>
                <a:latin typeface="Calibri"/>
              </a:rPr>
              <a:t>rvalid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293876" y="4246168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357323" y="4246168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420770" y="4246168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484217" y="4246168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5547664" y="4049755"/>
            <a:ext cx="1036015" cy="16913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5524804" y="4049755"/>
            <a:ext cx="18288" cy="218236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6611112" y="4246168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6588252" y="4049755"/>
            <a:ext cx="18288" cy="218236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7674559" y="4246168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38006" y="4246168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9801453" y="4246168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0864900" y="4246168"/>
            <a:ext cx="1036015" cy="21823"/>
          </a:xfrm>
          <a:prstGeom prst="rect">
            <a:avLst/>
          </a:prstGeom>
          <a:solidFill>
            <a:srgbClr val="1A6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74320" y="4300728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310896" y="4333463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E87D1E"/>
                </a:solidFill>
                <a:latin typeface="Calibri"/>
              </a:rPr>
              <a:t>rready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293876" y="451896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357323" y="451896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420770" y="451896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484217" y="451896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547664" y="4322551"/>
            <a:ext cx="1036015" cy="16913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5524804" y="4322551"/>
            <a:ext cx="18288" cy="218236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611112" y="451896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88252" y="4322551"/>
            <a:ext cx="18288" cy="218236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74559" y="451896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738006" y="451896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9801453" y="451896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0864900" y="4518964"/>
            <a:ext cx="1036015" cy="21823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74320" y="4573524"/>
            <a:ext cx="11640312" cy="5486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310896" y="4606259"/>
            <a:ext cx="914400" cy="207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75" b="1" i="0">
                <a:solidFill>
                  <a:srgbClr val="27AE60"/>
                </a:solidFill>
                <a:latin typeface="Calibri"/>
              </a:rPr>
              <a:t>done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1293876" y="4791760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357323" y="4791760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420770" y="4791760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484217" y="4791760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5547664" y="4791760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6611112" y="4791760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7674559" y="4595347"/>
            <a:ext cx="1036015" cy="16913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7651699" y="4595347"/>
            <a:ext cx="18288" cy="21823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738006" y="4791760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715146" y="4595347"/>
            <a:ext cx="18288" cy="21823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9801453" y="4791760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864900" y="4791760"/>
            <a:ext cx="1036015" cy="2182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74320" y="4937760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4A"/>
                </a:solidFill>
                <a:latin typeface="Calibri"/>
              </a:rPr>
              <a:t>Test Results  (14 Checks)</a:t>
            </a:r>
          </a:p>
        </p:txBody>
      </p:sp>
      <p:graphicFrame>
        <p:nvGraphicFramePr>
          <p:cNvPr id="219" name="Table 218"/>
          <p:cNvGraphicFramePr>
            <a:graphicFrameLocks noGrp="1"/>
          </p:cNvGraphicFramePr>
          <p:nvPr/>
        </p:nvGraphicFramePr>
        <p:xfrm>
          <a:off x="274320" y="5202936"/>
          <a:ext cx="114300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Address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Write Data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read_data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T1: Single W/R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0x0000_0000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0xDEAD_BEEF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0xDEAD_BEEF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T2a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0x0000_0004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0xCAFE_F00D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0xCAFE_F00D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T2b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0x0000_0008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0xA5A5_A5A5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0xA5A5_A5A5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T2c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0x0000_000C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0x0000_0001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0x0000_0001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T3: OOB 0x1000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0x0000_1000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0x1234_5678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44444"/>
                          </a:solidFill>
                          <a:latin typeface="Calibri"/>
                        </a:rPr>
                        <a:t>SLVERR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Summary — Overall Verification Status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51560"/>
            <a:ext cx="3657600" cy="5212080"/>
          </a:xfrm>
          <a:prstGeom prst="roundRect">
            <a:avLst/>
          </a:prstGeom>
          <a:solidFill>
            <a:srgbClr val="1E3A5A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8B8B"/>
                </a:solidFill>
                <a:latin typeface="Calibri"/>
              </a:rPr>
              <a:t>AXI-Lite
Register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1907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CCDD"/>
                </a:solidFill>
                <a:latin typeface="Calibri"/>
              </a:rPr>
              <a:t>rtl/axi_lite_regfile.v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2926080" cy="7772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3055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133 / 133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2F4F6"/>
                </a:solidFill>
                <a:latin typeface="Calibri"/>
              </a:rPr>
              <a:t>checks 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6324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4 × 32-bit registers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SLVERR on addr[31:4]≠0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3 write FSM paths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Backpressure coverage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051560"/>
            <a:ext cx="3657600" cy="5212080"/>
          </a:xfrm>
          <a:prstGeom prst="roundRect">
            <a:avLst/>
          </a:prstGeom>
          <a:solidFill>
            <a:srgbClr val="1E3A5A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1430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8B8B"/>
                </a:solidFill>
                <a:latin typeface="Calibri"/>
              </a:rPr>
              <a:t>AXI4
Memory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171907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CCDD"/>
                </a:solidFill>
                <a:latin typeface="Calibri"/>
              </a:rPr>
              <a:t>tb/axi_mem_model.sv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2103120"/>
            <a:ext cx="2926080" cy="7772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13055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63347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2F4F6"/>
                </a:solidFill>
                <a:latin typeface="Calibri"/>
              </a:rPr>
              <a:t>checks 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06324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1 KB parameterised 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56616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Byte-WSTRB  do_write()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06908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SLVERR for OOB addresses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5720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Init to zero at sim start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1051560"/>
            <a:ext cx="3657600" cy="5212080"/>
          </a:xfrm>
          <a:prstGeom prst="roundRect">
            <a:avLst/>
          </a:prstGeom>
          <a:solidFill>
            <a:srgbClr val="1E3A5A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11430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8B8B"/>
                </a:solidFill>
                <a:latin typeface="Calibri"/>
              </a:rPr>
              <a:t>Simple
AXI4 Master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171907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CCDD"/>
                </a:solidFill>
                <a:latin typeface="Calibri"/>
              </a:rPr>
              <a:t>rtl/simple_axi_master.v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2103120"/>
            <a:ext cx="2926080" cy="7772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213055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14 / 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3347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2F4F6"/>
                </a:solidFill>
                <a:latin typeface="Calibri"/>
              </a:rPr>
              <a:t>checks passed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06324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6-state FSM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56616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Write → Readback sequence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06908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Error: SLVERR / data mismatch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5720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6"/>
                </a:solidFill>
                <a:latin typeface="Calibri"/>
              </a:rPr>
              <a:t>▸  Combinatorial AXI drivers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6355080"/>
            <a:ext cx="11365992" cy="411480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373368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Total:  177 / 177 checks passed  ·  0 failures  ·  3 CI scripts  ·  All exit code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